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8" r:id="rId7"/>
    <p:sldId id="260" r:id="rId8"/>
    <p:sldId id="267" r:id="rId9"/>
    <p:sldId id="263" r:id="rId10"/>
    <p:sldId id="264" r:id="rId11"/>
    <p:sldId id="262" r:id="rId12"/>
    <p:sldId id="265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B27FC-D8FF-4853-A2CD-BD7F0C60DA31}" v="2" dt="2026-08-12T09:10:24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ke Bergen" userId="34d6753244d59a95" providerId="LiveId" clId="{CA5F72F2-797A-4277-99D1-EC0A0D5AF1A9}"/>
    <pc:docChg chg="custSel delSld modSld sldOrd">
      <pc:chgData name="Eike Bergen" userId="34d6753244d59a95" providerId="LiveId" clId="{CA5F72F2-797A-4277-99D1-EC0A0D5AF1A9}" dt="2026-08-12T09:11:06.553" v="197" actId="2696"/>
      <pc:docMkLst>
        <pc:docMk/>
      </pc:docMkLst>
      <pc:sldChg chg="addSp modSp mod">
        <pc:chgData name="Eike Bergen" userId="34d6753244d59a95" providerId="LiveId" clId="{CA5F72F2-797A-4277-99D1-EC0A0D5AF1A9}" dt="2026-08-12T09:08:34.119" v="131" actId="1076"/>
        <pc:sldMkLst>
          <pc:docMk/>
          <pc:sldMk cId="4030606367" sldId="259"/>
        </pc:sldMkLst>
        <pc:spChg chg="add mod">
          <ac:chgData name="Eike Bergen" userId="34d6753244d59a95" providerId="LiveId" clId="{CA5F72F2-797A-4277-99D1-EC0A0D5AF1A9}" dt="2026-08-12T09:08:34.119" v="131" actId="1076"/>
          <ac:spMkLst>
            <pc:docMk/>
            <pc:sldMk cId="4030606367" sldId="259"/>
            <ac:spMk id="2" creationId="{0235E926-2175-F712-CA12-70A92A48A472}"/>
          </ac:spMkLst>
        </pc:spChg>
        <pc:spChg chg="mod">
          <ac:chgData name="Eike Bergen" userId="34d6753244d59a95" providerId="LiveId" clId="{CA5F72F2-797A-4277-99D1-EC0A0D5AF1A9}" dt="2026-08-12T09:07:24.507" v="40" actId="20577"/>
          <ac:spMkLst>
            <pc:docMk/>
            <pc:sldMk cId="4030606367" sldId="259"/>
            <ac:spMk id="8" creationId="{797228E5-AF59-B64D-0D0B-91DB8E9ACF52}"/>
          </ac:spMkLst>
        </pc:spChg>
        <pc:spChg chg="mod">
          <ac:chgData name="Eike Bergen" userId="34d6753244d59a95" providerId="LiveId" clId="{CA5F72F2-797A-4277-99D1-EC0A0D5AF1A9}" dt="2026-08-12T09:07:42.677" v="86" actId="20577"/>
          <ac:spMkLst>
            <pc:docMk/>
            <pc:sldMk cId="4030606367" sldId="259"/>
            <ac:spMk id="12" creationId="{9F4CB3E5-AF61-61B4-DB9C-CB00E3AB8564}"/>
          </ac:spMkLst>
        </pc:spChg>
      </pc:sldChg>
      <pc:sldChg chg="del">
        <pc:chgData name="Eike Bergen" userId="34d6753244d59a95" providerId="LiveId" clId="{CA5F72F2-797A-4277-99D1-EC0A0D5AF1A9}" dt="2026-08-12T09:11:06.553" v="197" actId="2696"/>
        <pc:sldMkLst>
          <pc:docMk/>
          <pc:sldMk cId="1218997033" sldId="261"/>
        </pc:sldMkLst>
      </pc:sldChg>
      <pc:sldChg chg="modSp mod">
        <pc:chgData name="Eike Bergen" userId="34d6753244d59a95" providerId="LiveId" clId="{CA5F72F2-797A-4277-99D1-EC0A0D5AF1A9}" dt="2026-08-12T09:09:59.934" v="155" actId="14100"/>
        <pc:sldMkLst>
          <pc:docMk/>
          <pc:sldMk cId="2000672445" sldId="266"/>
        </pc:sldMkLst>
        <pc:spChg chg="mod">
          <ac:chgData name="Eike Bergen" userId="34d6753244d59a95" providerId="LiveId" clId="{CA5F72F2-797A-4277-99D1-EC0A0D5AF1A9}" dt="2026-08-12T09:09:12.589" v="151" actId="1076"/>
          <ac:spMkLst>
            <pc:docMk/>
            <pc:sldMk cId="2000672445" sldId="266"/>
            <ac:spMk id="6" creationId="{D2A4DE08-20B2-CA3B-B51C-3FC96AB694C0}"/>
          </ac:spMkLst>
        </pc:spChg>
        <pc:spChg chg="mod">
          <ac:chgData name="Eike Bergen" userId="34d6753244d59a95" providerId="LiveId" clId="{CA5F72F2-797A-4277-99D1-EC0A0D5AF1A9}" dt="2026-08-12T09:08:46.977" v="132" actId="1076"/>
          <ac:spMkLst>
            <pc:docMk/>
            <pc:sldMk cId="2000672445" sldId="266"/>
            <ac:spMk id="21" creationId="{EE50BE0F-2BF4-B9CD-FBEB-EB257D6DFE8C}"/>
          </ac:spMkLst>
        </pc:spChg>
        <pc:spChg chg="mod">
          <ac:chgData name="Eike Bergen" userId="34d6753244d59a95" providerId="LiveId" clId="{CA5F72F2-797A-4277-99D1-EC0A0D5AF1A9}" dt="2026-08-12T09:09:53.713" v="154" actId="20577"/>
          <ac:spMkLst>
            <pc:docMk/>
            <pc:sldMk cId="2000672445" sldId="266"/>
            <ac:spMk id="30" creationId="{3E7C82B2-E432-FA17-A9F9-47909D09548B}"/>
          </ac:spMkLst>
        </pc:s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13" creationId="{1A03192A-82CC-05B0-D67C-FCC3C1F5C3BF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14" creationId="{68E70CAF-BF95-AFBB-F3D9-2F0F51AE7578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22" creationId="{CD096A2B-F924-9ED9-C705-7F494384881B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25" creationId="{A5B90B8A-B646-6CE1-E63E-2E3D17745A3C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28" creationId="{F16EBE8F-E812-A9D4-D83E-AF17F2C72EC1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32" creationId="{C6709645-8859-CAE5-1FED-4F042C111281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37" creationId="{AB989011-C65A-54A4-6856-53B58E0B8F3A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42" creationId="{A9CE8140-3E51-E3B3-0C6D-93E40AB6F95E}"/>
          </ac:grpSpMkLst>
        </pc:grpChg>
        <pc:picChg chg="mod">
          <ac:chgData name="Eike Bergen" userId="34d6753244d59a95" providerId="LiveId" clId="{CA5F72F2-797A-4277-99D1-EC0A0D5AF1A9}" dt="2026-08-12T09:08:46.977" v="132" actId="1076"/>
          <ac:picMkLst>
            <pc:docMk/>
            <pc:sldMk cId="2000672445" sldId="266"/>
            <ac:picMk id="5" creationId="{CA8A903D-FB82-34B4-90AC-59FB0CD284EA}"/>
          </ac:picMkLst>
        </pc:picChg>
        <pc:cxnChg chg="mod">
          <ac:chgData name="Eike Bergen" userId="34d6753244d59a95" providerId="LiveId" clId="{CA5F72F2-797A-4277-99D1-EC0A0D5AF1A9}" dt="2026-08-12T09:09:59.934" v="155" actId="14100"/>
          <ac:cxnSpMkLst>
            <pc:docMk/>
            <pc:sldMk cId="2000672445" sldId="266"/>
            <ac:cxnSpMk id="38" creationId="{8CD96D1F-6E82-3F37-5398-84FFEA8101EC}"/>
          </ac:cxnSpMkLst>
        </pc:cxnChg>
      </pc:sldChg>
      <pc:sldChg chg="ord">
        <pc:chgData name="Eike Bergen" userId="34d6753244d59a95" providerId="LiveId" clId="{CA5F72F2-797A-4277-99D1-EC0A0D5AF1A9}" dt="2026-08-12T09:06:58.637" v="5"/>
        <pc:sldMkLst>
          <pc:docMk/>
          <pc:sldMk cId="284897638" sldId="267"/>
        </pc:sldMkLst>
      </pc:sldChg>
      <pc:sldChg chg="modSp mod">
        <pc:chgData name="Eike Bergen" userId="34d6753244d59a95" providerId="LiveId" clId="{CA5F72F2-797A-4277-99D1-EC0A0D5AF1A9}" dt="2026-08-12T09:10:50.313" v="196" actId="1076"/>
        <pc:sldMkLst>
          <pc:docMk/>
          <pc:sldMk cId="4239604439" sldId="268"/>
        </pc:sldMkLst>
        <pc:spChg chg="mod">
          <ac:chgData name="Eike Bergen" userId="34d6753244d59a95" providerId="LiveId" clId="{CA5F72F2-797A-4277-99D1-EC0A0D5AF1A9}" dt="2026-08-12T09:10:50.313" v="196" actId="1076"/>
          <ac:spMkLst>
            <pc:docMk/>
            <pc:sldMk cId="4239604439" sldId="268"/>
            <ac:spMk id="9" creationId="{BDAD4982-3478-658B-C3A9-A0662CC01D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7DDEC-8E48-CD02-3C2B-29EFD3A4F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EA4FF0-1ECA-1EB5-96FE-97B88A952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A25E12-B1D7-702F-6149-5A71F847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836BAF-A1DB-438A-64ED-B23334B5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B0403B-58DC-5E97-B84B-CE96AA3B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630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8576A-EE27-C954-9E53-FBD869A7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CCA1F0-9232-EB47-EBAB-735BB25A7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26638-89F2-2835-5091-51A9F18A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70BD2A-3715-8D62-4E04-B8DB4869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9DD7F9-2C73-6451-D6CA-E9A6B420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7F321-DD5B-17EA-E130-B1C80122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F8E9C6-0A10-713F-7B27-B701B9D30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C91A10-4F20-3BD7-D3D3-641C7F37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623000-3F82-C1ED-EF72-F0AA9751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AE6938-4115-FBB9-353E-41FB1F15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09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59A041-4073-5348-58B5-A3F09848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6C3918-837E-9EF0-77B1-BAF393B7F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5E7DE5-5FF7-CD6F-CF42-CC99A0FDF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C38792-F294-86C8-7D56-C4F50780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8080AD-A7C3-BCD1-A193-5BB62484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5874CA-5C48-34AC-3830-1D7D1F8E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13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30A159-B6E9-D58B-9F33-0A5377FB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11F457-45B7-1E35-4A60-86575142C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BD25F6-9CD0-9102-EA7E-8530CB515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2D5B4D-2EF9-26F5-2819-D71B465E5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A00F9E-20FD-DB2D-9697-3F85E0A80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4CF86B-F127-5C63-F2E7-882B2A4A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344010-61F2-2982-A3B2-0FCD2034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EF3D70-62BC-41E7-A5EE-53EC225F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574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01D33-EEAC-B301-002E-694C8F1B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76920A-FA6F-E7DB-2DAC-0F473373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900B82-CC7E-13BE-BF8B-26D91C00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B6E432-A8C4-8FBE-984E-25C071DC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04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651AC64-DE5D-0456-81C8-B0E84A19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C07093-6E23-EF7E-76EE-B446AD47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FB2D7F-91A3-D8BF-1C44-7F560787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13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38AAD-9D08-DD34-06FE-C9AB424DD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AD6506-1429-23A8-CB66-0AC11E6A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27B88F-BFE9-4751-F6C2-BA2629A5C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1E0BC0-26BE-EBC1-1D44-50776782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5255B9-3755-302A-E203-0821BC51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C27118-A571-062D-EF3A-AE20A2AB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42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A6437-8596-52F4-E4C1-AC44910EC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1C0D52B-A63B-ED17-17D7-031CAFC95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753F95-5441-1E0E-FC11-5861BC3E9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97AFE0-A3F1-8FB5-086E-2E95700E3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AAAE73-213F-4868-E6F2-58D2ED37B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A7493C-902B-52C5-B162-C165E13E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04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BC76F-CC87-CF5E-77CE-3ED8693C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DCA461-2130-D324-D3C1-1D6CFD72D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DFBAA6-B209-DBC9-7A86-2BF30FD0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A2717-17B0-BA80-7D59-DE259521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E3AE5-7EC3-A550-97EC-898C758D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521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8B04376-B939-1961-B68A-B32B26C5F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C48EE5-18DC-9FB0-1BDA-992D6A75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58E7C-B889-E17C-5402-03610DD6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7A05D9-7664-7E4F-84D8-47FADBE6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52A290-AEF4-5937-FB13-EE3FBF21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98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429643-AD60-0E3C-E1D8-5C703B2F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BA9412-ECA1-8B04-BA35-ABFFFD51B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3E210C-9DF6-1347-A899-1FF2C2F2E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71AEA-5E0D-4C90-8C62-B63406D75F5C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9E5912-03DC-C95C-D606-92E2D392B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0D189-8BDC-997E-AB91-3CDAD4F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10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typst.app/open-sourc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C9DBE-1C4F-554D-9534-F2F928555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Manual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poster</a:t>
            </a:r>
            <a:r>
              <a:rPr lang="de-DE" dirty="0"/>
              <a:t> </a:t>
            </a:r>
            <a:r>
              <a:rPr lang="de-DE" dirty="0" err="1"/>
              <a:t>creation</a:t>
            </a:r>
            <a:endParaRPr lang="de-DE" dirty="0"/>
          </a:p>
        </p:txBody>
      </p:sp>
      <p:pic>
        <p:nvPicPr>
          <p:cNvPr id="9" name="Grafik 8" descr="Logo des Profilbereichs Modeling &amp; Simulation Sciences">
            <a:extLst>
              <a:ext uri="{FF2B5EF4-FFF2-40B4-BE49-F238E27FC236}">
                <a16:creationId xmlns:a16="http://schemas.microsoft.com/office/drawing/2014/main" id="{E1B78E5C-5B7C-7215-186C-908C0EE9D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7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79FC3-7846-A093-2CD0-D52EEC233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Install</a:t>
            </a:r>
            <a:r>
              <a:rPr lang="de-DE" dirty="0"/>
              <a:t> typst (</a:t>
            </a:r>
            <a:r>
              <a:rPr lang="de-DE" dirty="0">
                <a:hlinkClick r:id="rId2"/>
              </a:rPr>
              <a:t>https://typst.app/open-source/</a:t>
            </a:r>
            <a:r>
              <a:rPr lang="de-DE" dirty="0"/>
              <a:t>) (not </a:t>
            </a:r>
            <a:r>
              <a:rPr lang="de-DE" dirty="0" err="1"/>
              <a:t>mandatory</a:t>
            </a:r>
            <a:r>
              <a:rPr lang="de-DE" dirty="0"/>
              <a:t>, but </a:t>
            </a:r>
            <a:r>
              <a:rPr lang="de-DE" dirty="0" err="1"/>
              <a:t>enables</a:t>
            </a:r>
            <a:r>
              <a:rPr lang="de-DE" dirty="0"/>
              <a:t> terminal </a:t>
            </a:r>
            <a:r>
              <a:rPr lang="de-DE" dirty="0" err="1"/>
              <a:t>commands</a:t>
            </a:r>
            <a:r>
              <a:rPr lang="de-DE" dirty="0"/>
              <a:t>)</a:t>
            </a:r>
          </a:p>
          <a:p>
            <a:r>
              <a:rPr lang="de-DE" dirty="0" err="1"/>
              <a:t>Install</a:t>
            </a:r>
            <a:r>
              <a:rPr lang="de-DE" dirty="0"/>
              <a:t> typst </a:t>
            </a:r>
            <a:r>
              <a:rPr lang="de-DE" dirty="0" err="1"/>
              <a:t>packages</a:t>
            </a:r>
            <a:r>
              <a:rPr lang="de-DE" dirty="0"/>
              <a:t> in VS code (</a:t>
            </a:r>
            <a:r>
              <a:rPr lang="de-DE" dirty="0" err="1"/>
              <a:t>Tinymist</a:t>
            </a:r>
            <a:r>
              <a:rPr lang="de-DE" dirty="0"/>
              <a:t> Typst)</a:t>
            </a:r>
          </a:p>
          <a:p>
            <a:r>
              <a:rPr lang="de-DE" dirty="0"/>
              <a:t>Clone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folder</a:t>
            </a:r>
            <a:endParaRPr lang="de-DE" dirty="0"/>
          </a:p>
        </p:txBody>
      </p:sp>
      <p:pic>
        <p:nvPicPr>
          <p:cNvPr id="7" name="Grafik 6" descr="Logo des Profilbereichs Modeling &amp; Simulation Sciences">
            <a:extLst>
              <a:ext uri="{FF2B5EF4-FFF2-40B4-BE49-F238E27FC236}">
                <a16:creationId xmlns:a16="http://schemas.microsoft.com/office/drawing/2014/main" id="{54A8B178-2810-D1F8-7B25-34A8C9437A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A9875773-24AD-207A-1C4B-2EFBB53D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629" y="74075"/>
            <a:ext cx="2437045" cy="554575"/>
          </a:xfrm>
        </p:spPr>
        <p:txBody>
          <a:bodyPr>
            <a:normAutofit/>
          </a:bodyPr>
          <a:lstStyle/>
          <a:p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Get</a:t>
            </a:r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Started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63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9DAED-E27C-1C1F-793E-6AB3356A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Navigate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„</a:t>
            </a:r>
            <a:r>
              <a:rPr lang="de-DE" dirty="0" err="1"/>
              <a:t>poster</a:t>
            </a:r>
            <a:r>
              <a:rPr lang="de-DE" dirty="0"/>
              <a:t>-</a:t>
            </a:r>
            <a:r>
              <a:rPr lang="de-DE" dirty="0" err="1"/>
              <a:t>with</a:t>
            </a:r>
            <a:r>
              <a:rPr lang="de-DE" dirty="0"/>
              <a:t>-typst“ </a:t>
            </a:r>
            <a:r>
              <a:rPr lang="de-DE" dirty="0" err="1"/>
              <a:t>folder</a:t>
            </a:r>
            <a:endParaRPr lang="de-DE" dirty="0"/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F6A1108F-0AA3-036C-38EA-BCA2F225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279" y="1844596"/>
            <a:ext cx="6190792" cy="4936449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5D1D5FF-5AFD-6128-4EB8-9B29A760C46E}"/>
              </a:ext>
            </a:extLst>
          </p:cNvPr>
          <p:cNvCxnSpPr/>
          <p:nvPr/>
        </p:nvCxnSpPr>
        <p:spPr>
          <a:xfrm>
            <a:off x="1919335" y="3268301"/>
            <a:ext cx="68806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fik 7" descr="Logo des Profilbereichs Modeling &amp; Simulation Sciences">
            <a:extLst>
              <a:ext uri="{FF2B5EF4-FFF2-40B4-BE49-F238E27FC236}">
                <a16:creationId xmlns:a16="http://schemas.microsoft.com/office/drawing/2014/main" id="{D2734050-099F-FF87-3B86-2A1043882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6F301889-E111-122D-5D74-68C29A2150D9}"/>
              </a:ext>
            </a:extLst>
          </p:cNvPr>
          <p:cNvSpPr/>
          <p:nvPr/>
        </p:nvSpPr>
        <p:spPr>
          <a:xfrm>
            <a:off x="2761308" y="224900"/>
            <a:ext cx="172016" cy="112406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97228E5-AF59-B64D-0D0B-91DB8E9ACF52}"/>
              </a:ext>
            </a:extLst>
          </p:cNvPr>
          <p:cNvSpPr txBox="1"/>
          <p:nvPr/>
        </p:nvSpPr>
        <p:spPr>
          <a:xfrm>
            <a:off x="3078178" y="651849"/>
            <a:ext cx="3276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Content </a:t>
            </a:r>
            <a:r>
              <a:rPr lang="de-DE" dirty="0" err="1"/>
              <a:t>folders</a:t>
            </a:r>
            <a:r>
              <a:rPr lang="de-DE" dirty="0"/>
              <a:t>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poster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5F2A431-9AC3-D7B4-5D6A-9BF6BA334DF5}"/>
              </a:ext>
            </a:extLst>
          </p:cNvPr>
          <p:cNvCxnSpPr>
            <a:cxnSpLocks/>
          </p:cNvCxnSpPr>
          <p:nvPr/>
        </p:nvCxnSpPr>
        <p:spPr>
          <a:xfrm flipH="1">
            <a:off x="2725094" y="1548142"/>
            <a:ext cx="5432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9F4CB3E5-AF61-61B4-DB9C-CB00E3AB8564}"/>
              </a:ext>
            </a:extLst>
          </p:cNvPr>
          <p:cNvSpPr txBox="1"/>
          <p:nvPr/>
        </p:nvSpPr>
        <p:spPr>
          <a:xfrm>
            <a:off x="3268301" y="1363476"/>
            <a:ext cx="564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Folder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posters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(MSS logo, etc.)</a:t>
            </a:r>
          </a:p>
        </p:txBody>
      </p:sp>
      <p:sp>
        <p:nvSpPr>
          <p:cNvPr id="13" name="Geschweifte Klammer rechts 12">
            <a:extLst>
              <a:ext uri="{FF2B5EF4-FFF2-40B4-BE49-F238E27FC236}">
                <a16:creationId xmlns:a16="http://schemas.microsoft.com/office/drawing/2014/main" id="{9728CBE9-2EE2-5680-7A78-60427F0F883B}"/>
              </a:ext>
            </a:extLst>
          </p:cNvPr>
          <p:cNvSpPr/>
          <p:nvPr/>
        </p:nvSpPr>
        <p:spPr>
          <a:xfrm>
            <a:off x="2774888" y="1747319"/>
            <a:ext cx="158436" cy="42551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C2D574E-8D47-7A9E-5A7D-AFCCF547A126}"/>
              </a:ext>
            </a:extLst>
          </p:cNvPr>
          <p:cNvSpPr txBox="1"/>
          <p:nvPr/>
        </p:nvSpPr>
        <p:spPr>
          <a:xfrm>
            <a:off x="2996697" y="1775408"/>
            <a:ext cx="537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Typst Bibliotheken deren Funktionen benutzt werden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2CBB726-4DDF-A942-187C-4ADD6ED1C31F}"/>
              </a:ext>
            </a:extLst>
          </p:cNvPr>
          <p:cNvCxnSpPr>
            <a:cxnSpLocks/>
          </p:cNvCxnSpPr>
          <p:nvPr/>
        </p:nvCxnSpPr>
        <p:spPr>
          <a:xfrm flipH="1">
            <a:off x="2761308" y="2442927"/>
            <a:ext cx="5432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FE46291E-862E-7310-9FA5-AE24CA2532A5}"/>
              </a:ext>
            </a:extLst>
          </p:cNvPr>
          <p:cNvSpPr txBox="1"/>
          <p:nvPr/>
        </p:nvSpPr>
        <p:spPr>
          <a:xfrm>
            <a:off x="3304515" y="2258261"/>
            <a:ext cx="5286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Bib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in denen die Veröffentlichungen gelistet sind</a:t>
            </a:r>
          </a:p>
        </p:txBody>
      </p:sp>
      <p:pic>
        <p:nvPicPr>
          <p:cNvPr id="19" name="Grafik 1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F2F0354-8764-DD23-F39A-83AFA119A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98" y="129013"/>
            <a:ext cx="1832383" cy="6599974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83F65D0-2D1D-941B-83BB-6B7CB40FD489}"/>
              </a:ext>
            </a:extLst>
          </p:cNvPr>
          <p:cNvCxnSpPr>
            <a:cxnSpLocks/>
          </p:cNvCxnSpPr>
          <p:nvPr/>
        </p:nvCxnSpPr>
        <p:spPr>
          <a:xfrm flipH="1">
            <a:off x="2774888" y="2794504"/>
            <a:ext cx="5432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8C121EB0-A217-020B-A01E-7AE6C98B9BB3}"/>
              </a:ext>
            </a:extLst>
          </p:cNvPr>
          <p:cNvSpPr txBox="1"/>
          <p:nvPr/>
        </p:nvSpPr>
        <p:spPr>
          <a:xfrm>
            <a:off x="3318095" y="2609838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Typst Bibliothek mit </a:t>
            </a:r>
            <a:r>
              <a:rPr lang="de-DE" dirty="0" err="1"/>
              <a:t>custom</a:t>
            </a:r>
            <a:r>
              <a:rPr lang="de-DE" dirty="0"/>
              <a:t> Funktionen</a:t>
            </a:r>
          </a:p>
        </p:txBody>
      </p:sp>
      <p:sp>
        <p:nvSpPr>
          <p:cNvPr id="23" name="Geschweifte Klammer rechts 22">
            <a:extLst>
              <a:ext uri="{FF2B5EF4-FFF2-40B4-BE49-F238E27FC236}">
                <a16:creationId xmlns:a16="http://schemas.microsoft.com/office/drawing/2014/main" id="{3400281F-EFB6-3507-1B47-D3584D5FCB40}"/>
              </a:ext>
            </a:extLst>
          </p:cNvPr>
          <p:cNvSpPr/>
          <p:nvPr/>
        </p:nvSpPr>
        <p:spPr>
          <a:xfrm>
            <a:off x="2820155" y="4253620"/>
            <a:ext cx="158436" cy="42551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C6C2BB1-E8A7-2F16-B57A-B3EFCC90347D}"/>
              </a:ext>
            </a:extLst>
          </p:cNvPr>
          <p:cNvSpPr txBox="1"/>
          <p:nvPr/>
        </p:nvSpPr>
        <p:spPr>
          <a:xfrm>
            <a:off x="2978591" y="4253620"/>
            <a:ext cx="71433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Jeweils .typ und .</a:t>
            </a:r>
            <a:r>
              <a:rPr lang="de-DE" dirty="0" err="1"/>
              <a:t>pdf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mit gleichem Namen (</a:t>
            </a:r>
            <a:r>
              <a:rPr lang="de-DE" dirty="0" err="1"/>
              <a:t>pdf</a:t>
            </a:r>
            <a:r>
              <a:rPr lang="de-DE" dirty="0"/>
              <a:t> von typst generiert)</a:t>
            </a:r>
          </a:p>
          <a:p>
            <a:r>
              <a:rPr lang="de-DE" dirty="0"/>
              <a:t>Altes Format: </a:t>
            </a:r>
            <a:r>
              <a:rPr lang="de-DE" i="1" dirty="0" err="1"/>
              <a:t>poster</a:t>
            </a:r>
            <a:r>
              <a:rPr lang="de-DE" i="1" dirty="0"/>
              <a:t>-…</a:t>
            </a:r>
          </a:p>
          <a:p>
            <a:r>
              <a:rPr lang="de-DE" dirty="0"/>
              <a:t>Neues Format: </a:t>
            </a:r>
            <a:r>
              <a:rPr lang="de-DE" i="1" dirty="0"/>
              <a:t>poster-4-tiles-…</a:t>
            </a:r>
          </a:p>
        </p:txBody>
      </p:sp>
      <p:pic>
        <p:nvPicPr>
          <p:cNvPr id="5" name="Grafik 4" descr="Logo des Profilbereichs Modeling &amp; Simulation Sciences">
            <a:extLst>
              <a:ext uri="{FF2B5EF4-FFF2-40B4-BE49-F238E27FC236}">
                <a16:creationId xmlns:a16="http://schemas.microsoft.com/office/drawing/2014/main" id="{D6D4280B-1022-05F4-FB32-284AA9054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770BC7CC-A8FE-2576-275B-3EEE1B50098B}"/>
              </a:ext>
            </a:extLst>
          </p:cNvPr>
          <p:cNvSpPr txBox="1">
            <a:spLocks/>
          </p:cNvSpPr>
          <p:nvPr/>
        </p:nvSpPr>
        <p:spPr>
          <a:xfrm>
            <a:off x="4443629" y="74075"/>
            <a:ext cx="2437045" cy="554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>
                <a:solidFill>
                  <a:schemeClr val="tx2">
                    <a:lumMod val="90000"/>
                    <a:lumOff val="10000"/>
                  </a:schemeClr>
                </a:solidFill>
              </a:rPr>
              <a:t>File Overview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235E926-2175-F712-CA12-70A92A48A472}"/>
              </a:ext>
            </a:extLst>
          </p:cNvPr>
          <p:cNvSpPr txBox="1"/>
          <p:nvPr/>
        </p:nvSpPr>
        <p:spPr>
          <a:xfrm>
            <a:off x="7794304" y="2722076"/>
            <a:ext cx="42732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rgbClr val="FF0000"/>
                </a:solidFill>
              </a:rPr>
              <a:t>IN PROGRESS</a:t>
            </a:r>
          </a:p>
          <a:p>
            <a:pPr algn="ctr"/>
            <a:r>
              <a:rPr lang="de-DE" sz="2800" b="1" dirty="0">
                <a:solidFill>
                  <a:srgbClr val="FF0000"/>
                </a:solidFill>
              </a:rPr>
              <a:t>-&gt; New </a:t>
            </a:r>
            <a:r>
              <a:rPr lang="de-DE" sz="2800" b="1" dirty="0" err="1">
                <a:solidFill>
                  <a:srgbClr val="FF0000"/>
                </a:solidFill>
              </a:rPr>
              <a:t>screenshot</a:t>
            </a:r>
            <a:r>
              <a:rPr lang="de-DE" sz="2800" b="1" dirty="0">
                <a:solidFill>
                  <a:srgbClr val="FF0000"/>
                </a:solidFill>
              </a:rPr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403060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A8A903D-FB82-34B4-90AC-59FB0CD2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428" y="876300"/>
            <a:ext cx="3915695" cy="5511544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2A4DE08-20B2-CA3B-B51C-3FC96AB6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792" y="126978"/>
            <a:ext cx="4292965" cy="554575"/>
          </a:xfrm>
        </p:spPr>
        <p:txBody>
          <a:bodyPr>
            <a:normAutofit fontScale="90000"/>
          </a:bodyPr>
          <a:lstStyle/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Sample Poster - </a:t>
            </a:r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Overview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8" name="Grafik 7" descr="Logo des Profilbereichs Modeling &amp; Simulation Sciences">
            <a:extLst>
              <a:ext uri="{FF2B5EF4-FFF2-40B4-BE49-F238E27FC236}">
                <a16:creationId xmlns:a16="http://schemas.microsoft.com/office/drawing/2014/main" id="{4602EFF3-50BC-3A82-6927-5B9E62040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A03192A-82CC-05B0-D67C-FCC3C1F5C3BF}"/>
              </a:ext>
            </a:extLst>
          </p:cNvPr>
          <p:cNvGrpSpPr/>
          <p:nvPr/>
        </p:nvGrpSpPr>
        <p:grpSpPr>
          <a:xfrm>
            <a:off x="7670423" y="1237734"/>
            <a:ext cx="2244133" cy="369332"/>
            <a:chOff x="7480300" y="1440934"/>
            <a:chExt cx="2244133" cy="369332"/>
          </a:xfrm>
        </p:grpSpPr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0C0AF76F-940D-B55D-A808-0E5B68D358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1555750"/>
              <a:ext cx="749300" cy="698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04AE34E-B810-6033-C462-E33785FA88C6}"/>
                </a:ext>
              </a:extLst>
            </p:cNvPr>
            <p:cNvSpPr txBox="1"/>
            <p:nvPr/>
          </p:nvSpPr>
          <p:spPr>
            <a:xfrm>
              <a:off x="8229600" y="1440934"/>
              <a:ext cx="1494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Logo of Chair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8E70CAF-BF95-AFBB-F3D9-2F0F51AE7578}"/>
              </a:ext>
            </a:extLst>
          </p:cNvPr>
          <p:cNvGrpSpPr/>
          <p:nvPr/>
        </p:nvGrpSpPr>
        <p:grpSpPr>
          <a:xfrm>
            <a:off x="840079" y="628650"/>
            <a:ext cx="3115594" cy="369332"/>
            <a:chOff x="7895306" y="1460500"/>
            <a:chExt cx="3115594" cy="369332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BECAC74D-0155-CC0A-9309-9E4A9F17B35F}"/>
                </a:ext>
              </a:extLst>
            </p:cNvPr>
            <p:cNvCxnSpPr>
              <a:cxnSpLocks/>
            </p:cNvCxnSpPr>
            <p:nvPr/>
          </p:nvCxnSpPr>
          <p:spPr>
            <a:xfrm>
              <a:off x="9861550" y="1708150"/>
              <a:ext cx="1149350" cy="1021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19A38EE8-7ACC-075D-762F-1A5F6A5AF74C}"/>
                </a:ext>
              </a:extLst>
            </p:cNvPr>
            <p:cNvSpPr txBox="1"/>
            <p:nvPr/>
          </p:nvSpPr>
          <p:spPr>
            <a:xfrm>
              <a:off x="7895306" y="1460500"/>
              <a:ext cx="1966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Name of Software</a:t>
              </a:r>
            </a:p>
          </p:txBody>
        </p: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7876D07-4AA1-D160-A4E5-BC656E224AA6}"/>
              </a:ext>
            </a:extLst>
          </p:cNvPr>
          <p:cNvCxnSpPr>
            <a:cxnSpLocks/>
          </p:cNvCxnSpPr>
          <p:nvPr/>
        </p:nvCxnSpPr>
        <p:spPr>
          <a:xfrm>
            <a:off x="2710153" y="1387475"/>
            <a:ext cx="1149350" cy="102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EE50BE0F-2BF4-B9CD-FBEB-EB257D6DFE8C}"/>
              </a:ext>
            </a:extLst>
          </p:cNvPr>
          <p:cNvSpPr txBox="1"/>
          <p:nvPr/>
        </p:nvSpPr>
        <p:spPr>
          <a:xfrm>
            <a:off x="761840" y="1167884"/>
            <a:ext cx="1847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Authors</a:t>
            </a:r>
            <a:r>
              <a:rPr lang="de-DE" dirty="0"/>
              <a:t>, </a:t>
            </a:r>
            <a:r>
              <a:rPr lang="de-DE" dirty="0" err="1"/>
              <a:t>name</a:t>
            </a:r>
            <a:r>
              <a:rPr lang="de-DE" dirty="0"/>
              <a:t> of </a:t>
            </a:r>
            <a:r>
              <a:rPr lang="de-DE" dirty="0" err="1"/>
              <a:t>chair</a:t>
            </a:r>
            <a:r>
              <a:rPr lang="de-DE" dirty="0"/>
              <a:t>, </a:t>
            </a:r>
            <a:r>
              <a:rPr lang="de-DE" dirty="0" err="1"/>
              <a:t>etc</a:t>
            </a:r>
            <a:r>
              <a:rPr lang="de-DE" dirty="0"/>
              <a:t> …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D096A2B-F924-9ED9-C705-7F494384881B}"/>
              </a:ext>
            </a:extLst>
          </p:cNvPr>
          <p:cNvGrpSpPr/>
          <p:nvPr/>
        </p:nvGrpSpPr>
        <p:grpSpPr>
          <a:xfrm>
            <a:off x="7460873" y="2057916"/>
            <a:ext cx="4302773" cy="369332"/>
            <a:chOff x="7480300" y="1440934"/>
            <a:chExt cx="4302773" cy="369332"/>
          </a:xfrm>
        </p:grpSpPr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60F1611E-5188-A224-4CB4-F32DE34DB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1555750"/>
              <a:ext cx="749300" cy="698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CB0C5CF5-CF75-5664-9288-6A9780AB8916}"/>
                </a:ext>
              </a:extLst>
            </p:cNvPr>
            <p:cNvSpPr txBox="1"/>
            <p:nvPr/>
          </p:nvSpPr>
          <p:spPr>
            <a:xfrm>
              <a:off x="8229600" y="1440934"/>
              <a:ext cx="3553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Catchphrase</a:t>
              </a:r>
              <a:r>
                <a:rPr lang="de-DE" dirty="0"/>
                <a:t> to </a:t>
              </a:r>
              <a:r>
                <a:rPr lang="de-DE" dirty="0" err="1"/>
                <a:t>get</a:t>
              </a:r>
              <a:r>
                <a:rPr lang="de-DE" dirty="0"/>
                <a:t> </a:t>
              </a:r>
              <a:r>
                <a:rPr lang="de-DE" dirty="0" err="1"/>
                <a:t>reader</a:t>
              </a:r>
              <a:r>
                <a:rPr lang="de-DE" dirty="0"/>
                <a:t> </a:t>
              </a:r>
              <a:r>
                <a:rPr lang="de-DE" dirty="0" err="1"/>
                <a:t>hooked</a:t>
              </a:r>
              <a:endParaRPr lang="de-DE" dirty="0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5B90B8A-B646-6CE1-E63E-2E3D17745A3C}"/>
              </a:ext>
            </a:extLst>
          </p:cNvPr>
          <p:cNvGrpSpPr/>
          <p:nvPr/>
        </p:nvGrpSpPr>
        <p:grpSpPr>
          <a:xfrm>
            <a:off x="7460873" y="2675127"/>
            <a:ext cx="2290684" cy="369332"/>
            <a:chOff x="7480300" y="1440934"/>
            <a:chExt cx="2290684" cy="369332"/>
          </a:xfrm>
        </p:grpSpPr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4ED93D60-2C76-01D8-A904-15D475AFB4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1555750"/>
              <a:ext cx="749300" cy="698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B8616F5A-5888-47A9-2938-CCEBDC31C0CE}"/>
                </a:ext>
              </a:extLst>
            </p:cNvPr>
            <p:cNvSpPr txBox="1"/>
            <p:nvPr/>
          </p:nvSpPr>
          <p:spPr>
            <a:xfrm>
              <a:off x="8229600" y="1440934"/>
              <a:ext cx="1541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Software logo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F16EBE8F-E812-A9D4-D83E-AF17F2C72EC1}"/>
              </a:ext>
            </a:extLst>
          </p:cNvPr>
          <p:cNvGrpSpPr/>
          <p:nvPr/>
        </p:nvGrpSpPr>
        <p:grpSpPr>
          <a:xfrm>
            <a:off x="6241673" y="3354348"/>
            <a:ext cx="4854458" cy="369332"/>
            <a:chOff x="6337300" y="1440934"/>
            <a:chExt cx="4854458" cy="369332"/>
          </a:xfrm>
        </p:grpSpPr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2D7580B8-90B8-D477-0902-8D371D1CB1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37300" y="1440934"/>
              <a:ext cx="1892300" cy="18466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3E7C82B2-E432-FA17-A9F9-47909D09548B}"/>
                </a:ext>
              </a:extLst>
            </p:cNvPr>
            <p:cNvSpPr txBox="1"/>
            <p:nvPr/>
          </p:nvSpPr>
          <p:spPr>
            <a:xfrm>
              <a:off x="8229600" y="1440934"/>
              <a:ext cx="29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QR code to </a:t>
              </a:r>
              <a:r>
                <a:rPr lang="de-DE" dirty="0" err="1"/>
                <a:t>access</a:t>
              </a:r>
              <a:r>
                <a:rPr lang="de-DE" dirty="0"/>
                <a:t> </a:t>
              </a:r>
              <a:r>
                <a:rPr lang="de-DE" dirty="0" err="1"/>
                <a:t>software</a:t>
              </a:r>
              <a:endParaRPr lang="de-DE" dirty="0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C6709645-8859-CAE5-1FED-4F042C111281}"/>
              </a:ext>
            </a:extLst>
          </p:cNvPr>
          <p:cNvGrpSpPr/>
          <p:nvPr/>
        </p:nvGrpSpPr>
        <p:grpSpPr>
          <a:xfrm>
            <a:off x="7489448" y="4512857"/>
            <a:ext cx="3565524" cy="646331"/>
            <a:chOff x="6308725" y="1394190"/>
            <a:chExt cx="3565524" cy="646331"/>
          </a:xfrm>
        </p:grpSpPr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AE451C80-804C-B0D2-DF25-DA2DBA4C50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725" y="1447284"/>
              <a:ext cx="720725" cy="848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7396EA7C-09C5-639F-CFB7-960C3863E00A}"/>
                </a:ext>
              </a:extLst>
            </p:cNvPr>
            <p:cNvSpPr txBox="1"/>
            <p:nvPr/>
          </p:nvSpPr>
          <p:spPr>
            <a:xfrm>
              <a:off x="7092950" y="1394190"/>
              <a:ext cx="2781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Box to </a:t>
              </a:r>
              <a:r>
                <a:rPr lang="de-DE" dirty="0" err="1"/>
                <a:t>show</a:t>
              </a:r>
              <a:r>
                <a:rPr lang="de-DE" dirty="0"/>
                <a:t> </a:t>
              </a:r>
              <a:r>
                <a:rPr lang="de-DE" dirty="0" err="1"/>
                <a:t>example</a:t>
              </a:r>
              <a:r>
                <a:rPr lang="de-DE" dirty="0"/>
                <a:t> </a:t>
              </a:r>
              <a:r>
                <a:rPr lang="de-DE" dirty="0" err="1"/>
                <a:t>use</a:t>
              </a:r>
              <a:r>
                <a:rPr lang="de-DE" dirty="0"/>
                <a:t> </a:t>
              </a:r>
              <a:r>
                <a:rPr lang="de-DE" dirty="0" err="1"/>
                <a:t>case</a:t>
              </a:r>
              <a:r>
                <a:rPr lang="de-DE" dirty="0"/>
                <a:t> for </a:t>
              </a:r>
              <a:r>
                <a:rPr lang="de-DE" dirty="0" err="1"/>
                <a:t>software</a:t>
              </a:r>
              <a:endParaRPr lang="de-DE" dirty="0"/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AB989011-C65A-54A4-6856-53B58E0B8F3A}"/>
              </a:ext>
            </a:extLst>
          </p:cNvPr>
          <p:cNvGrpSpPr/>
          <p:nvPr/>
        </p:nvGrpSpPr>
        <p:grpSpPr>
          <a:xfrm>
            <a:off x="344111" y="3919620"/>
            <a:ext cx="3702788" cy="646331"/>
            <a:chOff x="7161212" y="1447284"/>
            <a:chExt cx="3702788" cy="646331"/>
          </a:xfrm>
        </p:grpSpPr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8CD96D1F-6E82-3F37-5398-84FFEA8101EC}"/>
                </a:ext>
              </a:extLst>
            </p:cNvPr>
            <p:cNvCxnSpPr>
              <a:cxnSpLocks/>
            </p:cNvCxnSpPr>
            <p:nvPr/>
          </p:nvCxnSpPr>
          <p:spPr>
            <a:xfrm>
              <a:off x="10010774" y="1717355"/>
              <a:ext cx="853226" cy="1288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0BFC859E-B5A3-9913-6408-8C8669047BEB}"/>
                </a:ext>
              </a:extLst>
            </p:cNvPr>
            <p:cNvSpPr txBox="1"/>
            <p:nvPr/>
          </p:nvSpPr>
          <p:spPr>
            <a:xfrm>
              <a:off x="7161212" y="1447284"/>
              <a:ext cx="2781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Box to highlight </a:t>
              </a:r>
              <a:r>
                <a:rPr lang="de-DE" dirty="0" err="1"/>
                <a:t>purpose</a:t>
              </a:r>
              <a:r>
                <a:rPr lang="de-DE" dirty="0"/>
                <a:t> of </a:t>
              </a:r>
              <a:r>
                <a:rPr lang="de-DE" dirty="0" err="1"/>
                <a:t>software</a:t>
              </a:r>
              <a:endParaRPr lang="de-DE" dirty="0"/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A9CE8140-3E51-E3B3-0C6D-93E40AB6F95E}"/>
              </a:ext>
            </a:extLst>
          </p:cNvPr>
          <p:cNvGrpSpPr/>
          <p:nvPr/>
        </p:nvGrpSpPr>
        <p:grpSpPr>
          <a:xfrm>
            <a:off x="541882" y="5499784"/>
            <a:ext cx="3413791" cy="646331"/>
            <a:chOff x="7161212" y="1447284"/>
            <a:chExt cx="3413791" cy="646331"/>
          </a:xfrm>
        </p:grpSpPr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C59055C5-1809-46C5-706D-E45D87C6044D}"/>
                </a:ext>
              </a:extLst>
            </p:cNvPr>
            <p:cNvCxnSpPr>
              <a:cxnSpLocks/>
            </p:cNvCxnSpPr>
            <p:nvPr/>
          </p:nvCxnSpPr>
          <p:spPr>
            <a:xfrm>
              <a:off x="10010774" y="1717355"/>
              <a:ext cx="56422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BFA4FE7-8EC0-F4B4-9EA3-2000C6D06F6D}"/>
                </a:ext>
              </a:extLst>
            </p:cNvPr>
            <p:cNvSpPr txBox="1"/>
            <p:nvPr/>
          </p:nvSpPr>
          <p:spPr>
            <a:xfrm>
              <a:off x="7161212" y="1447284"/>
              <a:ext cx="2781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Citation</a:t>
              </a:r>
              <a:r>
                <a:rPr lang="de-DE" dirty="0"/>
                <a:t> of </a:t>
              </a:r>
              <a:r>
                <a:rPr lang="de-DE" dirty="0" err="1"/>
                <a:t>software</a:t>
              </a:r>
              <a:r>
                <a:rPr lang="de-DE" dirty="0"/>
                <a:t> </a:t>
              </a:r>
              <a:r>
                <a:rPr lang="de-DE" dirty="0" err="1"/>
                <a:t>publication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00067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7737-BBE6-DFA0-CDE3-F8E738C7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953571C-8C23-FE83-BD72-0666F882B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305" y="1079500"/>
            <a:ext cx="3915695" cy="5511544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BDAD4982-3478-658B-C3A9-A0662CC01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974" y="-10332"/>
            <a:ext cx="4528355" cy="554575"/>
          </a:xfrm>
        </p:spPr>
        <p:txBody>
          <a:bodyPr>
            <a:normAutofit/>
          </a:bodyPr>
          <a:lstStyle/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Sample Poster – Division</a:t>
            </a:r>
          </a:p>
        </p:txBody>
      </p:sp>
      <p:pic>
        <p:nvPicPr>
          <p:cNvPr id="17" name="Grafik 16" descr="Logo des Profilbereichs Modeling &amp; Simulation Sciences">
            <a:extLst>
              <a:ext uri="{FF2B5EF4-FFF2-40B4-BE49-F238E27FC236}">
                <a16:creationId xmlns:a16="http://schemas.microsoft.com/office/drawing/2014/main" id="{DCF5CD59-48F9-9B76-B9CD-88A6924BC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A4226619-D339-1855-D8AB-0DB83B6071EB}"/>
              </a:ext>
            </a:extLst>
          </p:cNvPr>
          <p:cNvSpPr/>
          <p:nvPr/>
        </p:nvSpPr>
        <p:spPr>
          <a:xfrm>
            <a:off x="3143250" y="1079500"/>
            <a:ext cx="463550" cy="8318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4B50ECD-8FDE-597A-2092-1A3913C911D3}"/>
              </a:ext>
            </a:extLst>
          </p:cNvPr>
          <p:cNvSpPr txBox="1"/>
          <p:nvPr/>
        </p:nvSpPr>
        <p:spPr>
          <a:xfrm>
            <a:off x="2013872" y="1265019"/>
            <a:ext cx="1094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Title Box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8D5DE31-ADD1-A11A-3043-81F95DFFD2DA}"/>
              </a:ext>
            </a:extLst>
          </p:cNvPr>
          <p:cNvSpPr txBox="1"/>
          <p:nvPr/>
        </p:nvSpPr>
        <p:spPr>
          <a:xfrm>
            <a:off x="4443629" y="484743"/>
            <a:ext cx="3061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As </a:t>
            </a:r>
            <a:r>
              <a:rPr lang="de-DE" dirty="0" err="1"/>
              <a:t>used</a:t>
            </a:r>
            <a:r>
              <a:rPr lang="de-DE" dirty="0"/>
              <a:t> in the typst </a:t>
            </a:r>
            <a:r>
              <a:rPr lang="de-DE" dirty="0" err="1"/>
              <a:t>template</a:t>
            </a:r>
            <a:endParaRPr lang="de-DE" dirty="0"/>
          </a:p>
        </p:txBody>
      </p:sp>
      <p:sp>
        <p:nvSpPr>
          <p:cNvPr id="40" name="Geschweifte Klammer links 39">
            <a:extLst>
              <a:ext uri="{FF2B5EF4-FFF2-40B4-BE49-F238E27FC236}">
                <a16:creationId xmlns:a16="http://schemas.microsoft.com/office/drawing/2014/main" id="{FE6BD94F-256B-5C47-5554-5F71871C6E38}"/>
              </a:ext>
            </a:extLst>
          </p:cNvPr>
          <p:cNvSpPr/>
          <p:nvPr/>
        </p:nvSpPr>
        <p:spPr>
          <a:xfrm>
            <a:off x="3108326" y="2019300"/>
            <a:ext cx="463550" cy="19177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4EDB43ED-C398-3AD4-BE2D-0E247055FAF2}"/>
              </a:ext>
            </a:extLst>
          </p:cNvPr>
          <p:cNvSpPr txBox="1"/>
          <p:nvPr/>
        </p:nvSpPr>
        <p:spPr>
          <a:xfrm>
            <a:off x="1085850" y="279348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Software Logo Box</a:t>
            </a:r>
          </a:p>
        </p:txBody>
      </p:sp>
      <p:sp>
        <p:nvSpPr>
          <p:cNvPr id="47" name="Geschweifte Klammer links 46">
            <a:extLst>
              <a:ext uri="{FF2B5EF4-FFF2-40B4-BE49-F238E27FC236}">
                <a16:creationId xmlns:a16="http://schemas.microsoft.com/office/drawing/2014/main" id="{B38CDBA5-7644-1D7C-F513-546E6C900AD1}"/>
              </a:ext>
            </a:extLst>
          </p:cNvPr>
          <p:cNvSpPr/>
          <p:nvPr/>
        </p:nvSpPr>
        <p:spPr>
          <a:xfrm>
            <a:off x="3115137" y="3835272"/>
            <a:ext cx="463550" cy="1917700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Geschweifte Klammer links 48">
            <a:extLst>
              <a:ext uri="{FF2B5EF4-FFF2-40B4-BE49-F238E27FC236}">
                <a16:creationId xmlns:a16="http://schemas.microsoft.com/office/drawing/2014/main" id="{9847E75E-7C75-010B-2E20-5D757CA0BB74}"/>
              </a:ext>
            </a:extLst>
          </p:cNvPr>
          <p:cNvSpPr/>
          <p:nvPr/>
        </p:nvSpPr>
        <p:spPr>
          <a:xfrm>
            <a:off x="3098571" y="5824799"/>
            <a:ext cx="463550" cy="26485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Geschweifte Klammer links 50">
            <a:extLst>
              <a:ext uri="{FF2B5EF4-FFF2-40B4-BE49-F238E27FC236}">
                <a16:creationId xmlns:a16="http://schemas.microsoft.com/office/drawing/2014/main" id="{4AED358C-F0F1-BF2F-CFA1-C9B8B0ABDEBB}"/>
              </a:ext>
            </a:extLst>
          </p:cNvPr>
          <p:cNvSpPr/>
          <p:nvPr/>
        </p:nvSpPr>
        <p:spPr>
          <a:xfrm>
            <a:off x="3115137" y="6160577"/>
            <a:ext cx="463550" cy="3799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2D820C2-0A24-E833-13E1-691B3944DB76}"/>
              </a:ext>
            </a:extLst>
          </p:cNvPr>
          <p:cNvSpPr txBox="1"/>
          <p:nvPr/>
        </p:nvSpPr>
        <p:spPr>
          <a:xfrm>
            <a:off x="1438966" y="4609456"/>
            <a:ext cx="175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Content Boxes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7940320B-0F7D-EA2F-7E62-9609F95BFFA9}"/>
              </a:ext>
            </a:extLst>
          </p:cNvPr>
          <p:cNvSpPr txBox="1"/>
          <p:nvPr/>
        </p:nvSpPr>
        <p:spPr>
          <a:xfrm>
            <a:off x="1688639" y="5755782"/>
            <a:ext cx="175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Bibliography</a:t>
            </a:r>
            <a:endParaRPr lang="de-DE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AA85426-56DF-99AB-B66F-B5AF85D0EED5}"/>
              </a:ext>
            </a:extLst>
          </p:cNvPr>
          <p:cNvSpPr txBox="1"/>
          <p:nvPr/>
        </p:nvSpPr>
        <p:spPr>
          <a:xfrm>
            <a:off x="1685926" y="6128766"/>
            <a:ext cx="175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Bottom Box</a:t>
            </a:r>
          </a:p>
        </p:txBody>
      </p:sp>
    </p:spTree>
    <p:extLst>
      <p:ext uri="{BB962C8B-B14F-4D97-AF65-F5344CB8AC3E}">
        <p14:creationId xmlns:p14="http://schemas.microsoft.com/office/powerpoint/2010/main" val="423960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CD6B6-DABA-FB83-E98B-7F1538D4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render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BF6DB16-D878-E593-3A92-67C03E62BE83}"/>
              </a:ext>
            </a:extLst>
          </p:cNvPr>
          <p:cNvCxnSpPr>
            <a:cxnSpLocks/>
          </p:cNvCxnSpPr>
          <p:nvPr/>
        </p:nvCxnSpPr>
        <p:spPr>
          <a:xfrm flipH="1">
            <a:off x="5368705" y="1312752"/>
            <a:ext cx="543208" cy="4775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4411C896-3989-0166-88DB-54D38CD6C476}"/>
              </a:ext>
            </a:extLst>
          </p:cNvPr>
          <p:cNvSpPr txBox="1"/>
          <p:nvPr/>
        </p:nvSpPr>
        <p:spPr>
          <a:xfrm>
            <a:off x="6095999" y="265537"/>
            <a:ext cx="5187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This </a:t>
            </a:r>
            <a:r>
              <a:rPr lang="de-DE" dirty="0" err="1"/>
              <a:t>button</a:t>
            </a:r>
            <a:r>
              <a:rPr lang="de-DE" dirty="0"/>
              <a:t> </a:t>
            </a:r>
            <a:r>
              <a:rPr lang="de-DE" dirty="0" err="1"/>
              <a:t>renders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PDF and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preview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button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there</a:t>
            </a:r>
            <a:r>
              <a:rPr lang="de-DE" dirty="0"/>
              <a:t>, press on </a:t>
            </a:r>
            <a:r>
              <a:rPr lang="de-DE" dirty="0" err="1"/>
              <a:t>the</a:t>
            </a:r>
            <a:r>
              <a:rPr lang="de-DE" dirty="0"/>
              <a:t> „</a:t>
            </a:r>
            <a:r>
              <a:rPr lang="de-DE" dirty="0" err="1"/>
              <a:t>execute</a:t>
            </a:r>
            <a:r>
              <a:rPr lang="de-DE" dirty="0"/>
              <a:t>“ </a:t>
            </a:r>
            <a:r>
              <a:rPr lang="de-DE" dirty="0" err="1"/>
              <a:t>button</a:t>
            </a:r>
            <a:r>
              <a:rPr lang="de-DE" dirty="0"/>
              <a:t> (in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render</a:t>
            </a:r>
            <a:r>
              <a:rPr lang="de-DE" dirty="0"/>
              <a:t> </a:t>
            </a:r>
            <a:r>
              <a:rPr lang="de-DE" dirty="0" err="1"/>
              <a:t>button</a:t>
            </a:r>
            <a:r>
              <a:rPr lang="de-DE" dirty="0"/>
              <a:t>)</a:t>
            </a:r>
          </a:p>
        </p:txBody>
      </p:sp>
      <p:pic>
        <p:nvPicPr>
          <p:cNvPr id="4" name="Grafik 3" descr="Logo des Profilbereichs Modeling &amp; Simulation Sciences">
            <a:extLst>
              <a:ext uri="{FF2B5EF4-FFF2-40B4-BE49-F238E27FC236}">
                <a16:creationId xmlns:a16="http://schemas.microsoft.com/office/drawing/2014/main" id="{FAFA7453-C454-E482-48CC-C32BA8961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C014855-A8BF-8BAC-4F2D-16E04ECF3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69" y="1981190"/>
            <a:ext cx="1899150" cy="53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23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 des Profilbereichs Modeling &amp; Simulation Sciences">
            <a:extLst>
              <a:ext uri="{FF2B5EF4-FFF2-40B4-BE49-F238E27FC236}">
                <a16:creationId xmlns:a16="http://schemas.microsoft.com/office/drawing/2014/main" id="{2A544698-3886-C76C-7646-48C0B0637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E081E-AB00-ECBC-BEFA-4FC376C9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Typst </a:t>
            </a:r>
            <a:r>
              <a:rPr lang="de-DE" dirty="0" err="1"/>
              <a:t>tipps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79D132-64C8-5209-EBC1-BC46DEC5C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Units:</a:t>
            </a:r>
          </a:p>
          <a:p>
            <a:r>
              <a:rPr lang="de-DE" dirty="0"/>
              <a:t>% -&gt;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percent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box</a:t>
            </a:r>
          </a:p>
          <a:p>
            <a:r>
              <a:rPr lang="de-DE" dirty="0"/>
              <a:t>Pt -&gt; absolut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(1pt=1/72 </a:t>
            </a:r>
            <a:r>
              <a:rPr lang="de-DE" dirty="0" err="1"/>
              <a:t>inch</a:t>
            </a:r>
            <a:r>
              <a:rPr lang="de-DE" dirty="0"/>
              <a:t>)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Terminal </a:t>
            </a:r>
            <a:r>
              <a:rPr lang="de-DE" dirty="0" err="1"/>
              <a:t>commands</a:t>
            </a:r>
            <a:r>
              <a:rPr lang="de-DE" dirty="0"/>
              <a:t>:</a:t>
            </a:r>
          </a:p>
          <a:p>
            <a:r>
              <a:rPr lang="de-DE" dirty="0"/>
              <a:t>See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fonts</a:t>
            </a:r>
            <a:r>
              <a:rPr lang="de-DE" dirty="0"/>
              <a:t> on </a:t>
            </a:r>
            <a:r>
              <a:rPr lang="de-DE" dirty="0" err="1"/>
              <a:t>system</a:t>
            </a:r>
            <a:r>
              <a:rPr lang="de-DE" dirty="0"/>
              <a:t>: &gt;&gt; typst </a:t>
            </a:r>
            <a:r>
              <a:rPr lang="de-DE" dirty="0" err="1"/>
              <a:t>fonts</a:t>
            </a:r>
            <a:endParaRPr lang="de-DE" dirty="0"/>
          </a:p>
          <a:p>
            <a:endParaRPr lang="de-DE" dirty="0"/>
          </a:p>
        </p:txBody>
      </p:sp>
      <p:pic>
        <p:nvPicPr>
          <p:cNvPr id="5" name="Grafik 4" descr="Logo des Profilbereichs Modeling &amp; Simulation Sciences">
            <a:extLst>
              <a:ext uri="{FF2B5EF4-FFF2-40B4-BE49-F238E27FC236}">
                <a16:creationId xmlns:a16="http://schemas.microsoft.com/office/drawing/2014/main" id="{BF4B045B-A1E7-23C8-934B-CFE7E1E4D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3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CA255-8835-0C99-E92B-D4393CB1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own </a:t>
            </a:r>
            <a:r>
              <a:rPr lang="de-DE" dirty="0" err="1"/>
              <a:t>poster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0600CD-F0AA-CA09-3FB6-8E20CE9DC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Title: </a:t>
            </a:r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19 </a:t>
            </a:r>
            <a:r>
              <a:rPr lang="de-DE" dirty="0" err="1"/>
              <a:t>characters</a:t>
            </a:r>
            <a:r>
              <a:rPr lang="de-DE" dirty="0"/>
              <a:t>, </a:t>
            </a:r>
            <a:r>
              <a:rPr lang="de-DE" dirty="0" err="1"/>
              <a:t>otherwise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font</a:t>
            </a:r>
            <a:r>
              <a:rPr lang="de-DE" dirty="0"/>
              <a:t>-size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/>
              <a:t> title </a:t>
            </a:r>
            <a:r>
              <a:rPr lang="de-DE" dirty="0"/>
              <a:t>will </a:t>
            </a:r>
            <a:r>
              <a:rPr lang="de-DE" dirty="0" err="1"/>
              <a:t>shrink</a:t>
            </a:r>
            <a:endParaRPr lang="de-DE" dirty="0"/>
          </a:p>
        </p:txBody>
      </p:sp>
      <p:pic>
        <p:nvPicPr>
          <p:cNvPr id="5" name="Grafik 4" descr="Logo des Profilbereichs Modeling &amp; Simulation Sciences">
            <a:extLst>
              <a:ext uri="{FF2B5EF4-FFF2-40B4-BE49-F238E27FC236}">
                <a16:creationId xmlns:a16="http://schemas.microsoft.com/office/drawing/2014/main" id="{71A8C3B8-3CC3-5C5C-834A-52584AE7F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72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288AFC0B-CFA9-67B4-FE4B-4A9329375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" t="2952" r="3194" b="3645"/>
          <a:stretch>
            <a:fillRect/>
          </a:stretch>
        </p:blipFill>
        <p:spPr bwMode="auto">
          <a:xfrm>
            <a:off x="3917950" y="1708150"/>
            <a:ext cx="4318000" cy="3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Logo des Profilbereichs Modeling &amp; Simulation Sciences">
            <a:extLst>
              <a:ext uri="{FF2B5EF4-FFF2-40B4-BE49-F238E27FC236}">
                <a16:creationId xmlns:a16="http://schemas.microsoft.com/office/drawing/2014/main" id="{ADC4E465-BC79-B6E1-BFFF-AA594F1A6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51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EFB4E82-720C-831A-FE24-F57C35DEB70B}"/>
              </a:ext>
            </a:extLst>
          </p:cNvPr>
          <p:cNvGrpSpPr/>
          <p:nvPr/>
        </p:nvGrpSpPr>
        <p:grpSpPr>
          <a:xfrm>
            <a:off x="1179871" y="1054751"/>
            <a:ext cx="8141110" cy="5851618"/>
            <a:chOff x="1179871" y="1054751"/>
            <a:chExt cx="8141110" cy="5851618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F5E4747-6F84-1B82-0CC7-2902A73BF233}"/>
                </a:ext>
              </a:extLst>
            </p:cNvPr>
            <p:cNvSpPr/>
            <p:nvPr/>
          </p:nvSpPr>
          <p:spPr>
            <a:xfrm>
              <a:off x="1179871" y="1054751"/>
              <a:ext cx="8141110" cy="5803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 descr="Ein Bild, das Text, Schrift, Grafiken, Logo enthält.&#10;&#10;KI-generierte Inhalte können fehlerhaft sein.">
              <a:extLst>
                <a:ext uri="{FF2B5EF4-FFF2-40B4-BE49-F238E27FC236}">
                  <a16:creationId xmlns:a16="http://schemas.microsoft.com/office/drawing/2014/main" id="{D5DCAC7B-D1AA-DF59-D742-4631F2F28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3" t="9499" r="81746" b="14266"/>
            <a:stretch>
              <a:fillRect/>
            </a:stretch>
          </p:blipFill>
          <p:spPr>
            <a:xfrm>
              <a:off x="4050890" y="1054751"/>
              <a:ext cx="4343659" cy="491343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768FA1E-EF5F-C59A-81F0-A7EBD82DE470}"/>
                </a:ext>
              </a:extLst>
            </p:cNvPr>
            <p:cNvSpPr txBox="1"/>
            <p:nvPr/>
          </p:nvSpPr>
          <p:spPr>
            <a:xfrm>
              <a:off x="1440716" y="2904531"/>
              <a:ext cx="2439257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(191, 208, 209)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(199, 221, 242)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(64, 127, 183)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(142, 186, 229)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(184, 214, 152)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(0, 84, 159)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(87, 171, 39)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(99, 101, 102)</a:t>
              </a:r>
            </a:p>
            <a:p>
              <a:pPr marL="342900" indent="-342900">
                <a:buFont typeface="+mj-lt"/>
                <a:buAutoNum type="arabicPeriod"/>
              </a:pPr>
              <a:endParaRPr lang="de-DE" dirty="0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6DBBF69A-229E-3243-CF35-611ACE6543B0}"/>
                </a:ext>
              </a:extLst>
            </p:cNvPr>
            <p:cNvSpPr txBox="1"/>
            <p:nvPr/>
          </p:nvSpPr>
          <p:spPr>
            <a:xfrm>
              <a:off x="6910639" y="200702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1CB2716-F7D8-3DDF-5D70-B6C75AFD9614}"/>
                </a:ext>
              </a:extLst>
            </p:cNvPr>
            <p:cNvSpPr txBox="1"/>
            <p:nvPr/>
          </p:nvSpPr>
          <p:spPr>
            <a:xfrm>
              <a:off x="6831981" y="272845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340166D-EA95-6152-D9FB-F5A73E065745}"/>
                </a:ext>
              </a:extLst>
            </p:cNvPr>
            <p:cNvSpPr txBox="1"/>
            <p:nvPr/>
          </p:nvSpPr>
          <p:spPr>
            <a:xfrm>
              <a:off x="5607073" y="29131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B485BCFD-7059-CEAF-2A19-047582A41E98}"/>
                </a:ext>
              </a:extLst>
            </p:cNvPr>
            <p:cNvSpPr txBox="1"/>
            <p:nvPr/>
          </p:nvSpPr>
          <p:spPr>
            <a:xfrm>
              <a:off x="5453024" y="182236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42D90D3-2224-0643-4A34-7705B98D2ABB}"/>
                </a:ext>
              </a:extLst>
            </p:cNvPr>
            <p:cNvSpPr txBox="1"/>
            <p:nvPr/>
          </p:nvSpPr>
          <p:spPr>
            <a:xfrm>
              <a:off x="6040930" y="176766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B6D3DA3-6779-1192-FAAE-B62B29AED317}"/>
                </a:ext>
              </a:extLst>
            </p:cNvPr>
            <p:cNvSpPr txBox="1"/>
            <p:nvPr/>
          </p:nvSpPr>
          <p:spPr>
            <a:xfrm>
              <a:off x="6407562" y="200702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65B4EB3-0B67-3BE5-7DB7-12C27FB6ECC3}"/>
                </a:ext>
              </a:extLst>
            </p:cNvPr>
            <p:cNvSpPr txBox="1"/>
            <p:nvPr/>
          </p:nvSpPr>
          <p:spPr>
            <a:xfrm>
              <a:off x="6343119" y="278592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0D3521ED-F188-FE19-F1EB-061E48A8A8B8}"/>
                </a:ext>
              </a:extLst>
            </p:cNvPr>
            <p:cNvSpPr txBox="1"/>
            <p:nvPr/>
          </p:nvSpPr>
          <p:spPr>
            <a:xfrm>
              <a:off x="5904485" y="228509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508B48E8-BD2C-76AD-97E6-E17A1F9B5783}"/>
                </a:ext>
              </a:extLst>
            </p:cNvPr>
            <p:cNvSpPr txBox="1"/>
            <p:nvPr/>
          </p:nvSpPr>
          <p:spPr>
            <a:xfrm>
              <a:off x="5588418" y="371060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8</a:t>
              </a:r>
            </a:p>
          </p:txBody>
        </p:sp>
        <p:pic>
          <p:nvPicPr>
            <p:cNvPr id="18" name="Grafik 17" descr="Ein Bild, das Text, Schrift, Grafiken, Logo enthält.&#10;&#10;KI-generierte Inhalte können fehlerhaft sein.">
              <a:extLst>
                <a:ext uri="{FF2B5EF4-FFF2-40B4-BE49-F238E27FC236}">
                  <a16:creationId xmlns:a16="http://schemas.microsoft.com/office/drawing/2014/main" id="{32018161-EBEF-126A-7C3C-602B96019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19" t="19608" b="16397"/>
            <a:stretch>
              <a:fillRect/>
            </a:stretch>
          </p:blipFill>
          <p:spPr>
            <a:xfrm>
              <a:off x="4164732" y="5431250"/>
              <a:ext cx="4793757" cy="1475119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C4EA02C8-3D43-03C2-9919-1981DA0B6CEC}"/>
                </a:ext>
              </a:extLst>
            </p:cNvPr>
            <p:cNvSpPr txBox="1"/>
            <p:nvPr/>
          </p:nvSpPr>
          <p:spPr>
            <a:xfrm>
              <a:off x="4202623" y="55586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A10C569-A83C-78E9-463C-2DDB745973B0}"/>
                </a:ext>
              </a:extLst>
            </p:cNvPr>
            <p:cNvSpPr txBox="1"/>
            <p:nvPr/>
          </p:nvSpPr>
          <p:spPr>
            <a:xfrm>
              <a:off x="6318679" y="57432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3" name="Grafik 2" descr="Logo des Profilbereichs Modeling &amp; Simulation Sciences">
            <a:extLst>
              <a:ext uri="{FF2B5EF4-FFF2-40B4-BE49-F238E27FC236}">
                <a16:creationId xmlns:a16="http://schemas.microsoft.com/office/drawing/2014/main" id="{DCF473DC-11B7-95FD-60FA-1A2927FB0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4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Breitbild</PresentationFormat>
  <Paragraphs>64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Manual for poster creation</vt:lpstr>
      <vt:lpstr>Get Started</vt:lpstr>
      <vt:lpstr>Navigate to „poster-with-typst“ folder</vt:lpstr>
      <vt:lpstr>PowerPoint-Präsentation</vt:lpstr>
      <vt:lpstr>Sample Poster - Overview</vt:lpstr>
      <vt:lpstr>Sample Poster – Division</vt:lpstr>
      <vt:lpstr>How to render</vt:lpstr>
      <vt:lpstr>PowerPoint-Präsentation</vt:lpstr>
      <vt:lpstr>Typst tipps</vt:lpstr>
      <vt:lpstr>How to create your own poster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Eike Bergen</dc:creator>
  <cp:lastModifiedBy>Eike Bergen</cp:lastModifiedBy>
  <cp:revision>25</cp:revision>
  <dcterms:created xsi:type="dcterms:W3CDTF">2026-01-28T15:56:00Z</dcterms:created>
  <dcterms:modified xsi:type="dcterms:W3CDTF">2026-08-12T09:11:15Z</dcterms:modified>
</cp:coreProperties>
</file>